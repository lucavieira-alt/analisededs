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OOT no prazo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OOT no prazo (%)</c:v>
                </c:pt>
              </c:strCache>
            </c:strRef>
          </c:tx>
          <c:spPr>
            <a:solidFill>
              <a:srgbClr val="3483F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83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6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RodaCoop</c:v>
                  </c:pt>
                  <c:pt idx="1">
                    <c:v>BLD Logística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86.9</c:v>
                </c:pt>
                <c:pt idx="1">
                  <c:v>89.7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TMEC médio (min) — menor é melhor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TMEC médio (min)</c:v>
                </c:pt>
              </c:strCache>
            </c:strRef>
          </c:tx>
          <c:spPr>
            <a:solidFill>
              <a:srgbClr val="3483FA"/>
            </a:solidFill>
            <a:effectLst/>
          </c:spPr>
          <c:invertIfNegative val="0"/>
          <c:dLbls>
            <c:numFmt formatCode="0.0&quot; min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83F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6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RodaCoop</c:v>
                  </c:pt>
                  <c:pt idx="1">
                    <c:v>BLD Logística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43.5</c:v>
                </c:pt>
                <c:pt idx="1">
                  <c:v>43.4</c:v>
                </c:pt>
              </c:numCache>
            </c:numRef>
          </c:val>
        </c:ser>
        <c:dLbls>
          <c:numFmt formatCode="0.0&quot; min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RodaCoop</c:v>
                </c:pt>
              </c:strCache>
            </c:strRef>
          </c:tx>
          <c:spPr>
            <a:solidFill>
              <a:srgbClr val="3483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Tempo em aduana (min)</c:v>
                  </c:pt>
                  <c:pt idx="1">
                    <c:v>Pacotes descontados</c:v>
                  </c:pt>
                  <c:pt idx="2">
                    <c:v>Pacotes retirados</c:v>
                  </c:pt>
                  <c:pt idx="3">
                    <c:v>Endereços não visitados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358</c:v>
                </c:pt>
                <c:pt idx="1">
                  <c:v>25</c:v>
                </c:pt>
                <c:pt idx="2">
                  <c:v>9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BLD Logística</c:v>
                </c:pt>
              </c:strCache>
            </c:strRef>
          </c:tx>
          <c:spPr>
            <a:solidFill>
              <a:srgbClr val="00A6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Tempo em aduana (min)</c:v>
                  </c:pt>
                  <c:pt idx="1">
                    <c:v>Pacotes descontados</c:v>
                  </c:pt>
                  <c:pt idx="2">
                    <c:v>Pacotes retirados</c:v>
                  </c:pt>
                  <c:pt idx="3">
                    <c:v>Endereços não visitados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214</c:v>
                </c:pt>
                <c:pt idx="1">
                  <c:v>43</c:v>
                </c:pt>
                <c:pt idx="2">
                  <c:v>35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1.jpeg"/><Relationship Id="rId4" Type="http://schemas.openxmlformats.org/officeDocument/2006/relationships/image" Target="../media/image-6-2.jpeg"/><Relationship Id="rId5" Type="http://schemas.openxmlformats.org/officeDocument/2006/relationships/image" Target="../media/image-6-1.jpeg"/><Relationship Id="rId6" Type="http://schemas.openxmlformats.org/officeDocument/2006/relationships/image" Target="../media/image-6-2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COMPARATIVA DE MLP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RodaCoop  vs  BLD Logística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OOT, TMEC e impactos operacionais — com abertura por modais VUC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pic>
        <p:nvPicPr>
          <p:cNvPr id="7" name="Image 0" descr="/vercel/share/v0-project/public/logos/rodacoop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4526280"/>
            <a:ext cx="1645920" cy="731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108960" y="42976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pic>
        <p:nvPicPr>
          <p:cNvPr id="9" name="Image 1" descr="/vercel/share/v0-project/public/logos/bld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4526280"/>
            <a:ext cx="16459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D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Estação SMG1  ·  Semanas W23–W28  ·  REG 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EXECUTIVO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Comparativo geral — todos os modais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E2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96012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5F6FA"/>
          </a:solidFill>
          <a:ln/>
        </p:spPr>
      </p:sp>
      <p:pic>
        <p:nvPicPr>
          <p:cNvPr id="7" name="Image 0" descr="/vercel/share/v0-project/public/logos/rodacoop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0" y="1051560"/>
            <a:ext cx="13716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20640" y="10241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RodaCoop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79792" y="96012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5F6FA"/>
          </a:solidFill>
          <a:ln/>
        </p:spPr>
      </p:sp>
      <p:pic>
        <p:nvPicPr>
          <p:cNvPr id="10" name="Image 1" descr="/vercel/share/v0-project/public/logos/bld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62672" y="1051560"/>
            <a:ext cx="13716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25712" y="102412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BLD Logística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173736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analisadas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474720" y="173736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0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7479792" y="1737360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479792" y="18288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509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10222992" y="1810512"/>
            <a:ext cx="960120" cy="256032"/>
          </a:xfrm>
          <a:prstGeom prst="rect">
            <a:avLst/>
          </a:prstGeom>
          <a:solidFill>
            <a:srgbClr val="00A6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548640" y="295351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OOT no prazo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474720" y="2953512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474720" y="304495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86.9%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7479792" y="2953512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79792" y="304495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89.7%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10222992" y="3026664"/>
            <a:ext cx="960120" cy="256032"/>
          </a:xfrm>
          <a:prstGeom prst="rect">
            <a:avLst/>
          </a:prstGeom>
          <a:solidFill>
            <a:srgbClr val="00A6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48640" y="4169664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TMEC médio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3474720" y="4169664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74720" y="4261104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43.5 min</a:t>
            </a:r>
            <a:endParaRPr lang="en-US" sz="2600" dirty="0"/>
          </a:p>
        </p:txBody>
      </p:sp>
      <p:sp>
        <p:nvSpPr>
          <p:cNvPr id="27" name="Shape 23"/>
          <p:cNvSpPr/>
          <p:nvPr/>
        </p:nvSpPr>
        <p:spPr>
          <a:xfrm>
            <a:off x="7479792" y="4169664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479792" y="4261104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43.4 min</a:t>
            </a:r>
            <a:endParaRPr lang="en-US" sz="2600" dirty="0"/>
          </a:p>
        </p:txBody>
      </p:sp>
      <p:sp>
        <p:nvSpPr>
          <p:cNvPr id="29" name="Text 25"/>
          <p:cNvSpPr/>
          <p:nvPr/>
        </p:nvSpPr>
        <p:spPr>
          <a:xfrm>
            <a:off x="10222992" y="4242816"/>
            <a:ext cx="960120" cy="256032"/>
          </a:xfrm>
          <a:prstGeom prst="rect">
            <a:avLst/>
          </a:prstGeom>
          <a:solidFill>
            <a:srgbClr val="00A6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48640" y="5385816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fora do prazo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3474720" y="5385816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25400">
            <a:solidFill>
              <a:srgbClr val="3483F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474720" y="5477256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2600" dirty="0"/>
          </a:p>
        </p:txBody>
      </p:sp>
      <p:sp>
        <p:nvSpPr>
          <p:cNvPr id="33" name="Text 29"/>
          <p:cNvSpPr/>
          <p:nvPr/>
        </p:nvSpPr>
        <p:spPr>
          <a:xfrm>
            <a:off x="6217920" y="5458968"/>
            <a:ext cx="960120" cy="256032"/>
          </a:xfrm>
          <a:prstGeom prst="rect">
            <a:avLst/>
          </a:prstGeom>
          <a:solidFill>
            <a:srgbClr val="3483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479792" y="5385816"/>
            <a:ext cx="3840480" cy="1051560"/>
          </a:xfrm>
          <a:prstGeom prst="roundRect">
            <a:avLst>
              <a:gd name="adj" fmla="val 5217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479792" y="5477256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2600" dirty="0"/>
          </a:p>
        </p:txBody>
      </p:sp>
      <p:sp>
        <p:nvSpPr>
          <p:cNvPr id="36" name="Text 3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· SMG1 · Análise OOT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INDICADORES-CHAVE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OOT no prazo e TMEC médio — geral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E2E3E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09360" y="173736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· SMG1 · Análise OOT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IMPACTOS OPERACIONAIS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por trás das rotas fora do prazo — geral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E2E3EC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48640" y="17373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73736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5F6FA"/>
          </a:solidFill>
          <a:ln/>
        </p:spPr>
      </p:sp>
      <p:sp>
        <p:nvSpPr>
          <p:cNvPr id="8" name="Text 5"/>
          <p:cNvSpPr/>
          <p:nvPr/>
        </p:nvSpPr>
        <p:spPr>
          <a:xfrm>
            <a:off x="832104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rápida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21040" y="237744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Aduana é o maior ofensor da RodaCoop: 358 min acumulados vs 214 min da BLD.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BLD concentra mais pacotes descontados (43) e retirados (35).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RodaCoop tem 2 endereços não visitados; BLD zero.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· SMG1 · Análise OOT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de DS — geral (base Last Mile SMG1)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E2E3EC"/>
            </a:solidFill>
            <a:prstDash val="solid"/>
          </a:ln>
        </p:spPr>
      </p:sp>
      <p:pic>
        <p:nvPicPr>
          <p:cNvPr id="6" name="Image 0" descr="/vercel/share/v0-project/public/logos/rodacoop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1536192"/>
            <a:ext cx="1188720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0" y="1517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RodaCoop</a:t>
            </a:r>
            <a:endParaRPr lang="en-US" sz="1200" dirty="0"/>
          </a:p>
        </p:txBody>
      </p:sp>
      <p:pic>
        <p:nvPicPr>
          <p:cNvPr id="8" name="Image 1" descr="/vercel/share/v0-project/public/logos/bld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55664" y="1536192"/>
            <a:ext cx="1188720" cy="4389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90104" y="151790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BLD Logística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2194560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— entregas realizadas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108960" y="219456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108960" y="219456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91.9%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6272784" y="2194560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72784" y="219456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94.0%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8640" y="3182112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médio (paradas/rota)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108960" y="3182112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08960" y="3182112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64.9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272784" y="3182112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72784" y="3182112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69.7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48640" y="4169664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ORH médio (h)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3108960" y="4169664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08960" y="4169664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6.74h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6272784" y="4169664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72784" y="4169664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6.31h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548640" y="5157216"/>
            <a:ext cx="27432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Insucessos (pacotes)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108960" y="5157216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F5F6FA"/>
          </a:solidFill>
          <a:ln w="25400">
            <a:solidFill>
              <a:srgbClr val="3483F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108960" y="5157216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3.329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6272784" y="5157216"/>
            <a:ext cx="3017520" cy="841248"/>
          </a:xfrm>
          <a:prstGeom prst="roundRect">
            <a:avLst>
              <a:gd name="adj" fmla="val 6522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272784" y="5157216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3.363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9564624" y="2194560"/>
            <a:ext cx="2651760" cy="3803904"/>
          </a:xfrm>
          <a:prstGeom prst="roundRect">
            <a:avLst>
              <a:gd name="adj" fmla="val 2759"/>
            </a:avLst>
          </a:prstGeom>
          <a:solidFill>
            <a:srgbClr val="F5F6FA"/>
          </a:solidFill>
          <a:ln/>
        </p:spPr>
      </p:sp>
      <p:sp>
        <p:nvSpPr>
          <p:cNvPr id="31" name="Text 27"/>
          <p:cNvSpPr/>
          <p:nvPr/>
        </p:nvSpPr>
        <p:spPr>
          <a:xfrm>
            <a:off x="9747504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DS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9747504" y="2697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98.5%</a:t>
            </a:r>
            <a:endParaRPr lang="en-US" sz="3000" dirty="0"/>
          </a:p>
        </p:txBody>
      </p:sp>
      <p:sp>
        <p:nvSpPr>
          <p:cNvPr id="33" name="Text 29"/>
          <p:cNvSpPr/>
          <p:nvPr/>
        </p:nvSpPr>
        <p:spPr>
          <a:xfrm>
            <a:off x="9747504" y="342900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 abaixo da meta de 98.5%.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BLD entrega +2,1 p.p. de DS e SPR mais alto (70 vs 65).</a:t>
            </a:r>
            <a:endParaRPr lang="en-US" sz="11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RodaCoop acumula 3.329 insucessos com menos rotas — atenção à taxa.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· SMG1 · Análise OOT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DS — contrato e ambulância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E2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93392"/>
            <a:ext cx="73152" cy="36576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5681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Frota Fixa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589 vs 456 rotas</a:t>
            </a:r>
            <a:endParaRPr lang="en-US" sz="1000" dirty="0"/>
          </a:p>
        </p:txBody>
      </p:sp>
      <p:pic>
        <p:nvPicPr>
          <p:cNvPr id="10" name="Image 0" descr="/vercel/share/v0-project/public/logos/rodacoop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83080" y="2788920"/>
            <a:ext cx="914400" cy="310896"/>
          </a:xfrm>
          <a:prstGeom prst="rect">
            <a:avLst/>
          </a:prstGeom>
        </p:spPr>
      </p:pic>
      <p:pic>
        <p:nvPicPr>
          <p:cNvPr id="11" name="Image 1" descr="/vercel/share/v0-project/public/logos/bld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71800" y="2788920"/>
            <a:ext cx="914400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33375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%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691640" y="3337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91.8%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880360" y="3337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93.6%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777240" y="4160520"/>
            <a:ext cx="3063240" cy="0"/>
          </a:xfrm>
          <a:prstGeom prst="line">
            <a:avLst/>
          </a:prstGeom>
          <a:noFill/>
          <a:ln w="6350">
            <a:solidFill>
              <a:srgbClr val="E2E3E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7240" y="42519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691640" y="4251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65.6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2880360" y="4251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777240" y="5074920"/>
            <a:ext cx="3063240" cy="0"/>
          </a:xfrm>
          <a:prstGeom prst="line">
            <a:avLst/>
          </a:prstGeom>
          <a:noFill/>
          <a:ln w="6350">
            <a:solidFill>
              <a:srgbClr val="E2E3E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" y="51663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Insucessos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1691640" y="51663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3.181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2880360" y="51663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1.977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325112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53712" y="1993392"/>
            <a:ext cx="73152" cy="36576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25" name="Text 21"/>
          <p:cNvSpPr/>
          <p:nvPr/>
        </p:nvSpPr>
        <p:spPr>
          <a:xfrm>
            <a:off x="4736592" y="195681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736592" y="23957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vs 361 rotas</a:t>
            </a:r>
            <a:endParaRPr lang="en-US" sz="1000" dirty="0"/>
          </a:p>
        </p:txBody>
      </p:sp>
      <p:pic>
        <p:nvPicPr>
          <p:cNvPr id="27" name="Image 2" descr="/vercel/share/v0-project/public/logos/rodacoop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59552" y="2788920"/>
            <a:ext cx="914400" cy="310896"/>
          </a:xfrm>
          <a:prstGeom prst="rect">
            <a:avLst/>
          </a:prstGeom>
        </p:spPr>
      </p:pic>
      <p:pic>
        <p:nvPicPr>
          <p:cNvPr id="28" name="Image 3" descr="/vercel/share/v0-project/public/logos/bld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48272" y="2788920"/>
            <a:ext cx="914400" cy="31089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553712" y="33375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%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68112" y="3337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93.9%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6656832" y="3337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94.4%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4553712" y="4160520"/>
            <a:ext cx="3063240" cy="0"/>
          </a:xfrm>
          <a:prstGeom prst="line">
            <a:avLst/>
          </a:prstGeom>
          <a:noFill/>
          <a:ln w="6350">
            <a:solidFill>
              <a:srgbClr val="E2E3E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553712" y="42519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468112" y="4251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54.8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6656832" y="4251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</a:t>
            </a:r>
            <a:endParaRPr lang="en-US" sz="1700" dirty="0"/>
          </a:p>
        </p:txBody>
      </p:sp>
      <p:sp>
        <p:nvSpPr>
          <p:cNvPr id="36" name="Shape 30"/>
          <p:cNvSpPr/>
          <p:nvPr/>
        </p:nvSpPr>
        <p:spPr>
          <a:xfrm>
            <a:off x="4553712" y="5074920"/>
            <a:ext cx="3063240" cy="0"/>
          </a:xfrm>
          <a:prstGeom prst="line">
            <a:avLst/>
          </a:prstGeom>
          <a:noFill/>
          <a:ln w="6350">
            <a:solidFill>
              <a:srgbClr val="E2E3EC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553712" y="51663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Insucessos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468112" y="51663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</a:t>
            </a:r>
            <a:endParaRPr lang="en-US" sz="1700" dirty="0"/>
          </a:p>
        </p:txBody>
      </p:sp>
      <p:sp>
        <p:nvSpPr>
          <p:cNvPr id="39" name="Text 33"/>
          <p:cNvSpPr/>
          <p:nvPr/>
        </p:nvSpPr>
        <p:spPr>
          <a:xfrm>
            <a:off x="6656832" y="51663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1.386</a:t>
            </a:r>
            <a:endParaRPr lang="en-US" sz="1700" dirty="0"/>
          </a:p>
        </p:txBody>
      </p:sp>
      <p:sp>
        <p:nvSpPr>
          <p:cNvPr id="40" name="Shape 34"/>
          <p:cNvSpPr/>
          <p:nvPr/>
        </p:nvSpPr>
        <p:spPr>
          <a:xfrm>
            <a:off x="8101584" y="173736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8330184" y="1993392"/>
            <a:ext cx="73152" cy="36576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42" name="Text 36"/>
          <p:cNvSpPr/>
          <p:nvPr/>
        </p:nvSpPr>
        <p:spPr>
          <a:xfrm>
            <a:off x="8513064" y="195681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Ambulância</a:t>
            </a:r>
            <a:endParaRPr lang="en-US" sz="1800" dirty="0"/>
          </a:p>
        </p:txBody>
      </p:sp>
      <p:sp>
        <p:nvSpPr>
          <p:cNvPr id="43" name="Text 37"/>
          <p:cNvSpPr/>
          <p:nvPr/>
        </p:nvSpPr>
        <p:spPr>
          <a:xfrm>
            <a:off x="8513064" y="239572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vs 102 rotas</a:t>
            </a:r>
            <a:endParaRPr lang="en-US" sz="1000" dirty="0"/>
          </a:p>
        </p:txBody>
      </p:sp>
      <p:pic>
        <p:nvPicPr>
          <p:cNvPr id="44" name="Image 4" descr="/vercel/share/v0-project/public/logos/rodacoop.jpe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36024" y="2788920"/>
            <a:ext cx="914400" cy="310896"/>
          </a:xfrm>
          <a:prstGeom prst="rect">
            <a:avLst/>
          </a:prstGeom>
        </p:spPr>
      </p:pic>
      <p:pic>
        <p:nvPicPr>
          <p:cNvPr id="45" name="Image 5" descr="/vercel/share/v0-project/public/logos/bld.jpe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524744" y="2788920"/>
            <a:ext cx="914400" cy="31089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8330184" y="33375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%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9244584" y="3337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92.4%</a:t>
            </a:r>
            <a:endParaRPr lang="en-US" sz="1700" dirty="0"/>
          </a:p>
        </p:txBody>
      </p:sp>
      <p:sp>
        <p:nvSpPr>
          <p:cNvPr id="48" name="Text 40"/>
          <p:cNvSpPr/>
          <p:nvPr/>
        </p:nvSpPr>
        <p:spPr>
          <a:xfrm>
            <a:off x="10433304" y="33375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93.4%</a:t>
            </a:r>
            <a:endParaRPr lang="en-US" sz="1700" dirty="0"/>
          </a:p>
        </p:txBody>
      </p:sp>
      <p:sp>
        <p:nvSpPr>
          <p:cNvPr id="49" name="Shape 41"/>
          <p:cNvSpPr/>
          <p:nvPr/>
        </p:nvSpPr>
        <p:spPr>
          <a:xfrm>
            <a:off x="8330184" y="4160520"/>
            <a:ext cx="3063240" cy="0"/>
          </a:xfrm>
          <a:prstGeom prst="line">
            <a:avLst/>
          </a:prstGeom>
          <a:noFill/>
          <a:ln w="6350">
            <a:solidFill>
              <a:srgbClr val="E2E3EC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8330184" y="42519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9244584" y="4251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35.3</a:t>
            </a:r>
            <a:endParaRPr lang="en-US" sz="1700" dirty="0"/>
          </a:p>
        </p:txBody>
      </p:sp>
      <p:sp>
        <p:nvSpPr>
          <p:cNvPr id="52" name="Text 44"/>
          <p:cNvSpPr/>
          <p:nvPr/>
        </p:nvSpPr>
        <p:spPr>
          <a:xfrm>
            <a:off x="10433304" y="42519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33.4</a:t>
            </a:r>
            <a:endParaRPr lang="en-US" sz="1700" dirty="0"/>
          </a:p>
        </p:txBody>
      </p:sp>
      <p:sp>
        <p:nvSpPr>
          <p:cNvPr id="53" name="Shape 45"/>
          <p:cNvSpPr/>
          <p:nvPr/>
        </p:nvSpPr>
        <p:spPr>
          <a:xfrm>
            <a:off x="8330184" y="5074920"/>
            <a:ext cx="3063240" cy="0"/>
          </a:xfrm>
          <a:prstGeom prst="line">
            <a:avLst/>
          </a:prstGeom>
          <a:noFill/>
          <a:ln w="6350">
            <a:solidFill>
              <a:srgbClr val="E2E3EC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8330184" y="516636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Insucessos</a:t>
            </a:r>
            <a:endParaRPr lang="en-US" sz="1100" dirty="0"/>
          </a:p>
        </p:txBody>
      </p:sp>
      <p:sp>
        <p:nvSpPr>
          <p:cNvPr id="55" name="Text 47"/>
          <p:cNvSpPr/>
          <p:nvPr/>
        </p:nvSpPr>
        <p:spPr>
          <a:xfrm>
            <a:off x="9244584" y="51663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</a:t>
            </a:r>
            <a:endParaRPr lang="en-US" sz="1700" dirty="0"/>
          </a:p>
        </p:txBody>
      </p:sp>
      <p:sp>
        <p:nvSpPr>
          <p:cNvPr id="56" name="Text 48"/>
          <p:cNvSpPr/>
          <p:nvPr/>
        </p:nvSpPr>
        <p:spPr>
          <a:xfrm>
            <a:off x="10433304" y="516636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215</a:t>
            </a:r>
            <a:endParaRPr lang="en-US" sz="1700" dirty="0"/>
          </a:p>
        </p:txBody>
      </p:sp>
      <p:sp>
        <p:nvSpPr>
          <p:cNvPr id="57" name="Text 4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· SMG1 · Análise OOT</a:t>
            </a:r>
            <a:endParaRPr lang="en-US" sz="900" dirty="0"/>
          </a:p>
        </p:txBody>
      </p:sp>
      <p:sp>
        <p:nvSpPr>
          <p:cNvPr id="58" name="Text 50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POR MODAL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no modal VUC — OOT + 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E2E3EC"/>
            </a:solidFill>
            <a:prstDash val="solid"/>
          </a:ln>
        </p:spPr>
      </p:sp>
      <p:pic>
        <p:nvPicPr>
          <p:cNvPr id="6" name="Image 0" descr="/vercel/share/v0-project/public/logos/rodacoop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49040" y="1600200"/>
            <a:ext cx="128016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15727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RodaCoop</a:t>
            </a:r>
            <a:endParaRPr lang="en-US" sz="1300" dirty="0"/>
          </a:p>
        </p:txBody>
      </p:sp>
      <p:pic>
        <p:nvPicPr>
          <p:cNvPr id="8" name="Image 1" descr="/vercel/share/v0-project/public/logos/bld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35824" y="1600200"/>
            <a:ext cx="128016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07424" y="15727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BLD Logística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228600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OOT no prazo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474720" y="22860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74720" y="22860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84.4%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7461504" y="2286000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461504" y="228600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88.3%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8640" y="3300984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TMEC médio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474720" y="3300984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25400">
            <a:solidFill>
              <a:srgbClr val="3483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474720" y="3300984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47.8 min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7461504" y="3300984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61504" y="3300984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56.4 min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48640" y="4315968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— entregas realizadas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474720" y="4315968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4720" y="431596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91.0%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7461504" y="4315968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61504" y="4315968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91.7%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548640" y="5330952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 médio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3474720" y="5330952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12700">
            <a:solidFill>
              <a:srgbClr val="E2E3E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0" y="533095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60.8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7461504" y="5330952"/>
            <a:ext cx="3840480" cy="868680"/>
          </a:xfrm>
          <a:prstGeom prst="roundRect">
            <a:avLst>
              <a:gd name="adj" fmla="val 6316"/>
            </a:avLst>
          </a:prstGeom>
          <a:solidFill>
            <a:srgbClr val="F5F6FA"/>
          </a:solidFill>
          <a:ln w="25400">
            <a:solidFill>
              <a:srgbClr val="00A65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61504" y="533095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63.7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548640" y="643737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VUC, a BLD tem melhor pontualidade e DS mais alto, mas TMEC bem maior (janelas mais longas). A RodaCoop entrega TMEC mais enxuto com DS e SPR ligeiramente menores.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· SMG1 · Análise OOT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83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VUC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Submodais VUC por transportadora — OOT + 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E2E3E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83280"/>
                <a:gridCol w="1097280"/>
                <a:gridCol w="1188720"/>
                <a:gridCol w="1280160"/>
                <a:gridCol w="109728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Transportadora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Submodal VUC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OOT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TMEC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RodaCoop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VUC DEDICADO COM AJUDANTE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84.1%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47.9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46.8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BLD Logística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VUC VAMOS 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59.8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57.9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VUC DEDICADO COM AJUDANTE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26.8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B5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VUC DEDICADO COM AJUDANTE (RodaCoop) e VUC VAMOS 2025 (BLD) concentram o volume. Na BLD, o submodal 'VUC' puro tem DS bem menor (86,5%) e SPR baixo — principal ofensor.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· SMG1 · Análise OOT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 E PRÓXIMOS PASSOS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priorizar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73152" cy="6400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BLD lidera pontualidade e 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26771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OOT 89,7% vs 86,9% e DS 94,0% vs 91,9% — melhor entrega e menos perdas por rota.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73152" cy="6400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788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RodaCoop tem TMEC mais competitivo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13639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47,8 min no VUC contra 56,4 min da BLD — ganho de eficiência a preservar.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03320"/>
            <a:ext cx="73152" cy="6400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657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Frota Fixa puxa o DS da RodaCoop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400507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91,8% na frota fixa (589 rotas) vs 93,6% da BLD; Spot da RodaCoop entrega melhor (93,9%).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572000"/>
            <a:ext cx="73152" cy="6400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Ambulância equilibrada, SPR baixo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48737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 ~92–93% nas duas, mas SPR ~34 paradas/rota — modelo de baixa densidade a monitorar.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5440680"/>
            <a:ext cx="73152" cy="640080"/>
          </a:xfrm>
          <a:prstGeom prst="rect">
            <a:avLst/>
          </a:prstGeom>
          <a:solidFill>
            <a:srgbClr val="FFE6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Atacar o VUC puro / VAMOS 2025 (BLD)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574243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VUC puro com DS 86,5% e VUC VAMOS com TMEC 59,8 min — revisar mix e janelas.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Success · SMG1 · Análise OOT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Mercado Livre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Delivery Success</dc:creator>
  <cp:lastModifiedBy>Delivery Success</cp:lastModifiedBy>
  <cp:revision>1</cp:revision>
  <dcterms:created xsi:type="dcterms:W3CDTF">2026-07-06T12:16:16Z</dcterms:created>
  <dcterms:modified xsi:type="dcterms:W3CDTF">2026-07-06T12:16:16Z</dcterms:modified>
</cp:coreProperties>
</file>